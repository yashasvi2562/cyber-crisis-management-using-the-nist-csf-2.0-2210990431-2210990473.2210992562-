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5"/>
  </p:handoutMasterIdLst>
  <p:sldIdLst>
    <p:sldId id="256" r:id="rId3"/>
    <p:sldId id="257" r:id="rId5"/>
    <p:sldId id="276" r:id="rId6"/>
    <p:sldId id="269" r:id="rId7"/>
    <p:sldId id="270" r:id="rId8"/>
    <p:sldId id="271" r:id="rId9"/>
    <p:sldId id="272" r:id="rId10"/>
    <p:sldId id="273" r:id="rId11"/>
    <p:sldId id="274" r:id="rId12"/>
    <p:sldId id="275" r:id="rId13"/>
    <p:sldId id="268" r:id="rId14"/>
  </p:sldIdLst>
  <p:sldSz cx="9144000" cy="6858000" type="screen4x3"/>
  <p:notesSz cx="7559675" cy="106914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7" d="100"/>
          <a:sy n="77" d="100"/>
        </p:scale>
        <p:origin x="1546"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customXml" Target="../customXml/item3.xml"/><Relationship Id="rId20" Type="http://schemas.openxmlformats.org/officeDocument/2006/relationships/customXml" Target="../customXml/item2.xml"/><Relationship Id="rId2" Type="http://schemas.openxmlformats.org/officeDocument/2006/relationships/theme" Target="theme/theme1.xml"/><Relationship Id="rId19" Type="http://schemas.openxmlformats.org/officeDocument/2006/relationships/customXml" Target="../customXml/item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fld>
            <a:endParaRPr lang="en-US"/>
          </a:p>
        </p:txBody>
      </p:sp>
      <p:sp>
        <p:nvSpPr>
          <p:cNvPr id="4" name="Footer Placeholder 3"/>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endParaRPr lang="en-US"/>
          </a:p>
        </p:txBody>
      </p:sp>
      <p:sp>
        <p:nvSpPr>
          <p:cNvPr id="5" name="Slide Number Placeholder 4"/>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fld>
            <a:endParaRPr 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fld>
            <a:endParaRPr lang="en-US"/>
          </a:p>
        </p:txBody>
      </p:sp>
      <p:sp>
        <p:nvSpPr>
          <p:cNvPr id="5" name="Footer Placeholder 4"/>
          <p:cNvSpPr>
            <a:spLocks noGrp="1"/>
          </p:cNvSpPr>
          <p:nvPr>
            <p:ph type="ftr" sz="quarter" idx="4"/>
          </p:nvPr>
        </p:nvSpPr>
        <p:spPr/>
        <p:txBody>
          <a:bodyPr/>
          <a:lstStyle/>
          <a:p>
            <a:r>
              <a:rPr lang="en-US"/>
              <a:t>Name of the faculty [Group: G00] [Sem:2nd]</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jpe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3"/>
          <a:srcRect b="10718"/>
          <a:stretch>
            <a:fillRect/>
          </a:stretch>
        </p:blipFill>
        <p:spPr>
          <a:xfrm>
            <a:off x="6553080" y="228600"/>
            <a:ext cx="2057040" cy="634680"/>
          </a:xfrm>
          <a:prstGeom prst="rect">
            <a:avLst/>
          </a:prstGeom>
          <a:ln w="9360">
            <a:noFill/>
          </a:ln>
        </p:spPr>
      </p:pic>
      <p:pic>
        <p:nvPicPr>
          <p:cNvPr id="3" name="Picture 10" descr="LOGO.gif"/>
          <p:cNvPicPr/>
          <p:nvPr/>
        </p:nvPicPr>
        <p:blipFill>
          <a:blip r:embed="rId13"/>
          <a:srcRect b="10718"/>
          <a:stretch>
            <a:fillRect/>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3"/>
            <a:srcRect b="10718"/>
            <a:stretch>
              <a:fillRect/>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4"/>
          <a:stretch>
            <a:fillRect/>
          </a:stretch>
        </p:blipFill>
        <p:spPr>
          <a:xfrm>
            <a:off x="6553080" y="228600"/>
            <a:ext cx="1920600" cy="609120"/>
          </a:xfrm>
          <a:prstGeom prst="rect">
            <a:avLst/>
          </a:prstGeom>
          <a:ln w="9360">
            <a:noFill/>
          </a:ln>
        </p:spPr>
      </p:pic>
      <p:pic>
        <p:nvPicPr>
          <p:cNvPr id="9" name="Picture 10" descr="LOGO.gif"/>
          <p:cNvPicPr/>
          <p:nvPr/>
        </p:nvPicPr>
        <p:blipFill>
          <a:blip r:embed="rId13"/>
          <a:srcRect b="10718"/>
          <a:stretch>
            <a:fillRect/>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3"/>
            <a:srcRect b="10718"/>
            <a:stretch>
              <a:fillRect/>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4"/>
          <a:stretch>
            <a:fillRect/>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panose="020F0502020204030204"/>
                <a:ea typeface="MS PGothic" panose="020B0600070205080204" charset="-128"/>
              </a:rPr>
              <a:t>Click to edit Master title style</a:t>
            </a:r>
            <a:endParaRPr lang="en-US" sz="3000" b="0" strike="noStrike" spc="-1" dirty="0">
              <a:solidFill>
                <a:srgbClr val="000000"/>
              </a:solidFill>
              <a:latin typeface="Arial" panose="020B0604020202020204"/>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2900" indent="-342900">
              <a:lnSpc>
                <a:spcPct val="100000"/>
              </a:lnSpc>
              <a:spcBef>
                <a:spcPts val="640"/>
              </a:spcBef>
              <a:buClr>
                <a:srgbClr val="000000"/>
              </a:buClr>
              <a:buFont typeface="Arial" panose="020B0604020202020204"/>
              <a:buChar char="•"/>
            </a:pPr>
            <a:r>
              <a:rPr lang="en-US" sz="3200" b="0" strike="noStrike" spc="-1" dirty="0">
                <a:solidFill>
                  <a:srgbClr val="000000"/>
                </a:solidFill>
                <a:latin typeface="Calibri" panose="020F0502020204030204"/>
                <a:ea typeface="MS PGothic" panose="020B0600070205080204" charset="-128"/>
              </a:rPr>
              <a:t>Click to edit Master text styles</a:t>
            </a:r>
            <a:endParaRPr lang="en-US" sz="3200" b="0" strike="noStrike" spc="-1" dirty="0">
              <a:solidFill>
                <a:srgbClr val="000000"/>
              </a:solidFill>
              <a:latin typeface="Calibri" panose="020F0502020204030204"/>
            </a:endParaRPr>
          </a:p>
          <a:p>
            <a:pPr marL="742950" lvl="1" indent="-285750">
              <a:lnSpc>
                <a:spcPct val="100000"/>
              </a:lnSpc>
              <a:spcBef>
                <a:spcPts val="560"/>
              </a:spcBef>
              <a:buClr>
                <a:srgbClr val="000000"/>
              </a:buClr>
              <a:buFont typeface="Arial" panose="020B0604020202020204"/>
              <a:buChar char="–"/>
            </a:pPr>
            <a:r>
              <a:rPr lang="en-US" sz="2800" b="0" strike="noStrike" spc="-1" dirty="0">
                <a:solidFill>
                  <a:srgbClr val="000000"/>
                </a:solidFill>
                <a:latin typeface="Calibri" panose="020F0502020204030204"/>
                <a:ea typeface="MS PGothic" panose="020B0600070205080204" charset="-128"/>
              </a:rPr>
              <a:t>Second level</a:t>
            </a:r>
            <a:endParaRPr lang="en-US" sz="2800" b="0" strike="noStrike" spc="-1" dirty="0">
              <a:solidFill>
                <a:srgbClr val="000000"/>
              </a:solidFill>
              <a:latin typeface="Calibri" panose="020F0502020204030204"/>
            </a:endParaRPr>
          </a:p>
          <a:p>
            <a:pPr marL="1143000" lvl="2" indent="-227965">
              <a:lnSpc>
                <a:spcPct val="100000"/>
              </a:lnSpc>
              <a:spcBef>
                <a:spcPts val="480"/>
              </a:spcBef>
              <a:buClr>
                <a:srgbClr val="000000"/>
              </a:buClr>
              <a:buFont typeface="Arial" panose="020B0604020202020204"/>
              <a:buChar char="•"/>
            </a:pPr>
            <a:r>
              <a:rPr lang="en-US" sz="2400" b="0" strike="noStrike" spc="-1" dirty="0">
                <a:solidFill>
                  <a:srgbClr val="000000"/>
                </a:solidFill>
                <a:latin typeface="Calibri" panose="020F0502020204030204"/>
                <a:ea typeface="MS PGothic" panose="020B0600070205080204" charset="-128"/>
              </a:rPr>
              <a:t>Third level</a:t>
            </a:r>
            <a:endParaRPr lang="en-US" sz="2400" b="0" strike="noStrike" spc="-1" dirty="0">
              <a:solidFill>
                <a:srgbClr val="000000"/>
              </a:solidFill>
              <a:latin typeface="Calibri" panose="020F0502020204030204"/>
            </a:endParaRPr>
          </a:p>
          <a:p>
            <a:pPr marL="1600200" lvl="3" indent="-227965">
              <a:lnSpc>
                <a:spcPct val="100000"/>
              </a:lnSpc>
              <a:spcBef>
                <a:spcPts val="400"/>
              </a:spcBef>
              <a:buClr>
                <a:srgbClr val="000000"/>
              </a:buClr>
              <a:buFont typeface="Arial" panose="020B0604020202020204"/>
              <a:buChar char="–"/>
            </a:pPr>
            <a:r>
              <a:rPr lang="en-US" sz="2000" b="0" strike="noStrike" spc="-1" dirty="0">
                <a:solidFill>
                  <a:srgbClr val="000000"/>
                </a:solidFill>
                <a:latin typeface="Calibri" panose="020F0502020204030204"/>
                <a:ea typeface="MS PGothic" panose="020B0600070205080204" charset="-128"/>
              </a:rPr>
              <a:t>Fourth level</a:t>
            </a:r>
            <a:endParaRPr lang="en-US" sz="2000" b="0" strike="noStrike" spc="-1" dirty="0">
              <a:solidFill>
                <a:srgbClr val="000000"/>
              </a:solidFill>
              <a:latin typeface="Calibri" panose="020F0502020204030204"/>
            </a:endParaRPr>
          </a:p>
          <a:p>
            <a:pPr marL="2057400" lvl="4" indent="-227965">
              <a:lnSpc>
                <a:spcPct val="100000"/>
              </a:lnSpc>
              <a:spcBef>
                <a:spcPts val="400"/>
              </a:spcBef>
              <a:buClr>
                <a:srgbClr val="000000"/>
              </a:buClr>
              <a:buFont typeface="Arial" panose="020B0604020202020204"/>
              <a:buChar char="»"/>
            </a:pPr>
            <a:r>
              <a:rPr lang="en-US" sz="2000" b="0" strike="noStrike" spc="-1" dirty="0">
                <a:solidFill>
                  <a:srgbClr val="000000"/>
                </a:solidFill>
                <a:latin typeface="Calibri" panose="020F0502020204030204"/>
                <a:ea typeface="MS PGothic" panose="020B0600070205080204" charset="-128"/>
              </a:rPr>
              <a:t>Fifth level</a:t>
            </a:r>
            <a:endParaRPr lang="en-US" sz="2000" b="0" strike="noStrike" spc="-1" dirty="0">
              <a:solidFill>
                <a:srgbClr val="000000"/>
              </a:solidFill>
              <a:latin typeface="Calibri" panose="020F0502020204030204"/>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panose="02020603050405020304"/>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panose="02020603050405020304"/>
              </a:rPr>
              <a:t>Name</a:t>
            </a:r>
            <a:endParaRPr lang="en-GB" sz="2400" b="0" strike="noStrike" spc="-1">
              <a:latin typeface="Times New Roman" panose="02020603050405020304"/>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panose="020F0502020204030204"/>
                <a:ea typeface="MS PGothic" panose="020B0600070205080204" charset="-128"/>
              </a:rPr>
            </a:fld>
            <a:endParaRPr lang="en-GB" sz="1200" b="0" strike="noStrike" spc="-1">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740"/>
            <a:ext cx="9144000" cy="7417435"/>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altLang="en-US" sz="4000" dirty="0">
                <a:latin typeface="Times New Roman" panose="02020603050405020304" pitchFamily="18" charset="0"/>
                <a:ea typeface="Calibri" panose="020F0502020204030204" pitchFamily="34" charset="0"/>
                <a:cs typeface="Times New Roman" panose="02020603050405020304" pitchFamily="18" charset="0"/>
              </a:rPr>
              <a:t>Cyber Crisis Management Using The Nist CSF 2.0</a:t>
            </a:r>
            <a:endParaRPr lang="en-US" altLang="en-US" sz="40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Janvi Sethi                          </a:t>
            </a: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sym typeface="+mn-ea"/>
              </a:rPr>
              <a:t>2210990431</a:t>
            </a: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sym typeface="+mn-ea"/>
              </a:rPr>
              <a:t>Kanwardeep Singh             </a:t>
            </a: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sym typeface="+mn-ea"/>
              </a:rPr>
              <a:t>2210990473</a:t>
            </a: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sym typeface="+mn-ea"/>
              </a:rPr>
              <a:t>Yashasvi                            </a:t>
            </a: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sym typeface="+mn-ea"/>
              </a:rPr>
              <a:t>2210992562</a:t>
            </a:r>
            <a:endPar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sym typeface="+mn-ea"/>
              </a:rPr>
              <a:t> </a:t>
            </a: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Supervised By</a:t>
            </a: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altLang="en-US" sz="2000" spc="-1" dirty="0">
                <a:latin typeface="Times New Roman" panose="02020603050405020304" pitchFamily="18" charset="0"/>
                <a:ea typeface="MS PGothic" panose="020B0600070205080204" charset="-128"/>
                <a:cs typeface="Times New Roman" panose="02020603050405020304" pitchFamily="18" charset="0"/>
              </a:rPr>
              <a:t>Gurpreet Singh</a:t>
            </a:r>
            <a:endParaRPr lang="en-US" alt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alt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panose="020B0600070205080204" charset="-128"/>
                <a:cs typeface="Times New Roman" panose="02020603050405020304" pitchFamily="18" charset="0"/>
              </a:rPr>
              <a:t>Department of </a:t>
            </a:r>
            <a:r>
              <a:rPr lang="en-US" sz="2400" b="0" strike="noStrike" spc="-1" dirty="0">
                <a:latin typeface="Times New Roman" panose="02020603050405020304" pitchFamily="18" charset="0"/>
                <a:ea typeface="MS PGothic" panose="020B0600070205080204" charset="-128"/>
                <a:cs typeface="Times New Roman" panose="02020603050405020304" pitchFamily="18" charset="0"/>
              </a:rPr>
              <a:t>Computer Science and Engineering, </a:t>
            </a:r>
            <a:endParaRPr lang="en-US" sz="2400" b="0" strike="noStrike"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400" b="0" strike="noStrike" spc="-1" dirty="0">
                <a:latin typeface="Times New Roman" panose="02020603050405020304" pitchFamily="18" charset="0"/>
                <a:ea typeface="MS PGothic" panose="020B0600070205080204" charset="-128"/>
                <a:cs typeface="Times New Roman" panose="02020603050405020304" pitchFamily="18" charset="0"/>
              </a:rPr>
              <a:t>Chitkara University, Punjab</a:t>
            </a:r>
            <a:endParaRPr lang="en-US" sz="2400" b="0" strike="noStrike"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64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63830" y="0"/>
            <a:ext cx="6019560" cy="837720"/>
          </a:xfrm>
          <a:prstGeom prst="rect">
            <a:avLst/>
          </a:prstGeom>
          <a:noFill/>
          <a:ln w="9360">
            <a:noFill/>
          </a:ln>
        </p:spPr>
        <p:txBody>
          <a:bodyPr anchor="ctr">
            <a:noAutofit/>
          </a:bodyPr>
          <a:lstStyle/>
          <a:p>
            <a:pPr algn="ctr">
              <a:lnSpc>
                <a:spcPct val="100000"/>
              </a:lnSpc>
            </a:pPr>
            <a:r>
              <a:rPr lang="en-GB"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marL="482600" lvl="0" indent="-342900">
              <a:buClr>
                <a:srgbClr val="000000"/>
              </a:buClr>
              <a:buSzPts val="1400"/>
              <a:buFont typeface="Arial" panose="020B0604020202020204" pitchFamily="34" charset="0"/>
              <a:buChar char="•"/>
            </a:pPr>
            <a:r>
              <a:rPr lang="en-US" altLang="en-US" sz="1900" b="0" strike="noStrike" spc="-1" dirty="0">
                <a:solidFill>
                  <a:srgbClr val="000000"/>
                </a:solidFill>
                <a:latin typeface="Times New Roman" panose="02020603050405020304" pitchFamily="18" charset="0"/>
                <a:cs typeface="Times New Roman" panose="02020603050405020304" pitchFamily="18" charset="0"/>
              </a:rPr>
              <a:t>Digital transformation has increased organizational dependence on technology, expanding opportunities for cyberattacks.</a:t>
            </a:r>
            <a:endParaRPr lang="en-US" altLang="en-US" sz="1900" b="0" strike="noStrike" spc="-1" dirty="0">
              <a:solidFill>
                <a:srgbClr val="000000"/>
              </a:solidFill>
              <a:latin typeface="Times New Roman" panose="02020603050405020304" pitchFamily="18" charset="0"/>
              <a:cs typeface="Times New Roman" panose="02020603050405020304" pitchFamily="18" charset="0"/>
            </a:endParaRPr>
          </a:p>
          <a:p>
            <a:pPr marL="482600" lvl="0" indent="-342900">
              <a:buClr>
                <a:srgbClr val="000000"/>
              </a:buClr>
              <a:buSzPts val="1400"/>
              <a:buFont typeface="Arial" panose="020B0604020202020204" pitchFamily="34" charset="0"/>
              <a:buChar char="•"/>
            </a:pPr>
            <a:r>
              <a:rPr lang="en-US" altLang="en-US" sz="1900" b="0" strike="noStrike" spc="-1" dirty="0">
                <a:solidFill>
                  <a:srgbClr val="000000"/>
                </a:solidFill>
                <a:latin typeface="Times New Roman" panose="02020603050405020304" pitchFamily="18" charset="0"/>
                <a:cs typeface="Times New Roman" panose="02020603050405020304" pitchFamily="18" charset="0"/>
              </a:rPr>
              <a:t>Cyber crises now affect all sectors, including healthcare, finance, government, and industry.</a:t>
            </a:r>
            <a:endParaRPr lang="en-US" altLang="en-US" sz="1900" b="0" strike="noStrike" spc="-1" dirty="0">
              <a:solidFill>
                <a:srgbClr val="000000"/>
              </a:solidFill>
              <a:latin typeface="Times New Roman" panose="02020603050405020304" pitchFamily="18" charset="0"/>
              <a:cs typeface="Times New Roman" panose="02020603050405020304" pitchFamily="18" charset="0"/>
            </a:endParaRPr>
          </a:p>
          <a:p>
            <a:pPr marL="482600" lvl="0" indent="-342900">
              <a:buClr>
                <a:srgbClr val="000000"/>
              </a:buClr>
              <a:buSzPts val="1400"/>
              <a:buFont typeface="Arial" panose="020B0604020202020204" pitchFamily="34" charset="0"/>
              <a:buChar char="•"/>
            </a:pPr>
            <a:r>
              <a:rPr lang="en-US" altLang="en-US" sz="1900" b="0" strike="noStrike" spc="-1" dirty="0">
                <a:solidFill>
                  <a:srgbClr val="000000"/>
                </a:solidFill>
                <a:latin typeface="Times New Roman" panose="02020603050405020304" pitchFamily="18" charset="0"/>
                <a:cs typeface="Times New Roman" panose="02020603050405020304" pitchFamily="18" charset="0"/>
              </a:rPr>
              <a:t>Major incidents such as the Colonial Pipeline ransomware attack, SolarWinds supply chain attack, and MOVEit Transfer vulnerability exploitation highlight the growing impact of cybercrime.</a:t>
            </a:r>
            <a:endParaRPr lang="en-US" altLang="en-US" sz="1900" b="0" strike="noStrike" spc="-1" dirty="0">
              <a:solidFill>
                <a:srgbClr val="000000"/>
              </a:solidFill>
              <a:latin typeface="Times New Roman" panose="02020603050405020304" pitchFamily="18" charset="0"/>
              <a:cs typeface="Times New Roman" panose="02020603050405020304" pitchFamily="18" charset="0"/>
            </a:endParaRPr>
          </a:p>
          <a:p>
            <a:pPr marL="482600" lvl="0" indent="-342900">
              <a:buClr>
                <a:srgbClr val="000000"/>
              </a:buClr>
              <a:buSzPts val="1400"/>
              <a:buFont typeface="Arial" panose="020B0604020202020204" pitchFamily="34" charset="0"/>
              <a:buChar char="•"/>
            </a:pPr>
            <a:r>
              <a:rPr lang="en-US" altLang="en-US" sz="1900" b="0" strike="noStrike" spc="-1" dirty="0">
                <a:solidFill>
                  <a:srgbClr val="000000"/>
                </a:solidFill>
                <a:latin typeface="Times New Roman" panose="02020603050405020304" pitchFamily="18" charset="0"/>
                <a:cs typeface="Times New Roman" panose="02020603050405020304" pitchFamily="18" charset="0"/>
              </a:rPr>
              <a:t>Cyber Crisis Management (CCM) helps organizations prepare for, detect, respond to, and recover from cyber incidents while reducing operational and reputational damage.</a:t>
            </a:r>
            <a:endParaRPr lang="en-US" altLang="en-US" sz="1900" b="0" strike="noStrike" spc="-1" dirty="0">
              <a:solidFill>
                <a:srgbClr val="000000"/>
              </a:solidFill>
              <a:latin typeface="Times New Roman" panose="02020603050405020304" pitchFamily="18" charset="0"/>
              <a:cs typeface="Times New Roman" panose="02020603050405020304" pitchFamily="18" charset="0"/>
            </a:endParaRPr>
          </a:p>
          <a:p>
            <a:pPr marL="482600" lvl="0" indent="-342900">
              <a:buClr>
                <a:srgbClr val="000000"/>
              </a:buClr>
              <a:buSzPts val="1400"/>
              <a:buFont typeface="Arial" panose="020B0604020202020204" pitchFamily="34" charset="0"/>
              <a:buChar char="•"/>
            </a:pPr>
            <a:r>
              <a:rPr lang="en-US" altLang="en-US" sz="1900" b="0" strike="noStrike" spc="-1" dirty="0">
                <a:solidFill>
                  <a:srgbClr val="000000"/>
                </a:solidFill>
                <a:latin typeface="Times New Roman" panose="02020603050405020304" pitchFamily="18" charset="0"/>
                <a:cs typeface="Times New Roman" panose="02020603050405020304" pitchFamily="18" charset="0"/>
              </a:rPr>
              <a:t>Unlike traditional incident response, CCM integrates governance, legal compliance, communication, and business continuity.</a:t>
            </a:r>
            <a:endParaRPr lang="en-US" altLang="en-US" sz="1900" b="0" strike="noStrike" spc="-1" dirty="0">
              <a:solidFill>
                <a:srgbClr val="000000"/>
              </a:solidFill>
              <a:latin typeface="Times New Roman" panose="02020603050405020304" pitchFamily="18" charset="0"/>
              <a:cs typeface="Times New Roman" panose="02020603050405020304" pitchFamily="18" charset="0"/>
            </a:endParaRPr>
          </a:p>
          <a:p>
            <a:pPr marL="482600" lvl="0" indent="-342900">
              <a:buClr>
                <a:srgbClr val="000000"/>
              </a:buClr>
              <a:buSzPts val="1400"/>
              <a:buFont typeface="Arial" panose="020B0604020202020204" pitchFamily="34" charset="0"/>
              <a:buChar char="•"/>
            </a:pPr>
            <a:r>
              <a:rPr lang="en-US" altLang="en-US" sz="1900" b="0" strike="noStrike" spc="-1" dirty="0">
                <a:solidFill>
                  <a:srgbClr val="000000"/>
                </a:solidFill>
                <a:latin typeface="Times New Roman" panose="02020603050405020304" pitchFamily="18" charset="0"/>
                <a:cs typeface="Times New Roman" panose="02020603050405020304" pitchFamily="18" charset="0"/>
              </a:rPr>
              <a:t>The National Institute of Standards and Technology Cybersecurity Framework (NIST CSF), updated in 2024, provides a widely adopted lifecycle-based approach for managing cybersecurity risks.</a:t>
            </a:r>
            <a:endParaRPr lang="en-US" alt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 name="TextShape 1"/>
          <p:cNvSpPr txBox="1"/>
          <p:nvPr/>
        </p:nvSpPr>
        <p:spPr>
          <a:xfrm>
            <a:off x="163830" y="0"/>
            <a:ext cx="6019560" cy="837720"/>
          </a:xfrm>
          <a:prstGeom prst="rect">
            <a:avLst/>
          </a:prstGeom>
          <a:noFill/>
          <a:ln w="9360">
            <a:noFill/>
          </a:ln>
        </p:spPr>
        <p:txBody>
          <a:bodyPr anchor="ctr">
            <a:noAutofit/>
          </a:bodyPr>
          <a:lstStyle/>
          <a:p>
            <a:pPr algn="ctr">
              <a:lnSpc>
                <a:spcPct val="100000"/>
              </a:lnSpc>
            </a:pPr>
            <a:r>
              <a:rPr lang="en-US" altLang="en-GB" sz="3200" dirty="0">
                <a:latin typeface="Times New Roman" panose="02020603050405020304" pitchFamily="18" charset="0"/>
                <a:cs typeface="Times New Roman" panose="02020603050405020304" pitchFamily="18" charset="0"/>
              </a:rPr>
              <a:t>Objective</a:t>
            </a:r>
            <a:endParaRPr lang="en-US" altLang="en-GB" sz="32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2" name="Text Box 1"/>
          <p:cNvSpPr txBox="1"/>
          <p:nvPr/>
        </p:nvSpPr>
        <p:spPr>
          <a:xfrm>
            <a:off x="216535" y="1084580"/>
            <a:ext cx="5680710" cy="6485255"/>
          </a:xfrm>
          <a:prstGeom prst="rect">
            <a:avLst/>
          </a:prstGeom>
        </p:spPr>
        <p:txBody>
          <a:bodyPr>
            <a:noAutofit/>
          </a:bodyPr>
          <a:p>
            <a:pPr marL="342900" indent="-342900" algn="just" fontAlgn="t">
              <a:buFont typeface="Arial" panose="020B0604020202020204" pitchFamily="34" charset="0"/>
              <a:buChar char="•"/>
            </a:pPr>
            <a:r>
              <a:rPr sz="2000">
                <a:latin typeface="Times New Roman" panose="02020603050405020304" pitchFamily="18" charset="0"/>
                <a:cs typeface="Times New Roman" panose="02020603050405020304" pitchFamily="18" charset="0"/>
              </a:rPr>
              <a:t>To analyze the growing importance of Cyber Crisis Management (CCM) in modern organizations. </a:t>
            </a:r>
            <a:endParaRPr sz="2000">
              <a:latin typeface="Times New Roman" panose="02020603050405020304" pitchFamily="18" charset="0"/>
              <a:cs typeface="Times New Roman" panose="02020603050405020304" pitchFamily="18" charset="0"/>
            </a:endParaRPr>
          </a:p>
          <a:p>
            <a:pPr marL="342900" indent="-342900" algn="just" fontAlgn="t">
              <a:buFont typeface="Arial" panose="020B0604020202020204" pitchFamily="34" charset="0"/>
              <a:buChar char="•"/>
            </a:pPr>
            <a:r>
              <a:rPr sz="2000">
                <a:latin typeface="Times New Roman" panose="02020603050405020304" pitchFamily="18" charset="0"/>
                <a:cs typeface="Times New Roman" panose="02020603050405020304" pitchFamily="18" charset="0"/>
              </a:rPr>
              <a:t> To study the role of the National Institute of Standards and Technology Cybersecurity Framework (NIST CSF 2.0) in managing cyber crises. </a:t>
            </a:r>
            <a:endParaRPr sz="2000">
              <a:latin typeface="Times New Roman" panose="02020603050405020304" pitchFamily="18" charset="0"/>
              <a:cs typeface="Times New Roman" panose="02020603050405020304" pitchFamily="18" charset="0"/>
            </a:endParaRPr>
          </a:p>
          <a:p>
            <a:pPr marL="342900" indent="-342900" algn="just" fontAlgn="t">
              <a:buFont typeface="Arial" panose="020B0604020202020204" pitchFamily="34" charset="0"/>
              <a:buChar char="•"/>
            </a:pPr>
            <a:r>
              <a:rPr sz="2000">
                <a:latin typeface="Times New Roman" panose="02020603050405020304" pitchFamily="18" charset="0"/>
                <a:cs typeface="Times New Roman" panose="02020603050405020304" pitchFamily="18" charset="0"/>
              </a:rPr>
              <a:t> To examine key CCM functions such as governance, </a:t>
            </a:r>
            <a:r>
              <a:rPr lang="en-US" sz="2000">
                <a:latin typeface="Times New Roman" panose="02020603050405020304" pitchFamily="18" charset="0"/>
                <a:cs typeface="Times New Roman" panose="02020603050405020304" pitchFamily="18" charset="0"/>
              </a:rPr>
              <a:t>identify, protection, </a:t>
            </a:r>
            <a:r>
              <a:rPr sz="2000">
                <a:latin typeface="Times New Roman" panose="02020603050405020304" pitchFamily="18" charset="0"/>
                <a:cs typeface="Times New Roman" panose="02020603050405020304" pitchFamily="18" charset="0"/>
              </a:rPr>
              <a:t>detection, response</a:t>
            </a:r>
            <a:r>
              <a:rPr lang="en-US" sz="2000">
                <a:latin typeface="Times New Roman" panose="02020603050405020304" pitchFamily="18" charset="0"/>
                <a:cs typeface="Times New Roman" panose="02020603050405020304" pitchFamily="18" charset="0"/>
              </a:rPr>
              <a:t> and </a:t>
            </a:r>
            <a:r>
              <a:rPr sz="2000">
                <a:latin typeface="Times New Roman" panose="02020603050405020304" pitchFamily="18" charset="0"/>
                <a:cs typeface="Times New Roman" panose="02020603050405020304" pitchFamily="18" charset="0"/>
              </a:rPr>
              <a:t>recovery. </a:t>
            </a:r>
            <a:endParaRPr sz="2000">
              <a:latin typeface="Times New Roman" panose="02020603050405020304" pitchFamily="18" charset="0"/>
              <a:cs typeface="Times New Roman" panose="02020603050405020304" pitchFamily="18" charset="0"/>
            </a:endParaRPr>
          </a:p>
          <a:p>
            <a:pPr marL="342900" indent="-342900" algn="just" fontAlgn="t">
              <a:buFont typeface="Arial" panose="020B0604020202020204" pitchFamily="34" charset="0"/>
              <a:buChar char="•"/>
            </a:pPr>
            <a:r>
              <a:rPr sz="2000">
                <a:latin typeface="Times New Roman" panose="02020603050405020304" pitchFamily="18" charset="0"/>
                <a:cs typeface="Times New Roman" panose="02020603050405020304" pitchFamily="18" charset="0"/>
              </a:rPr>
              <a:t> To identify strategies for improving organizational resilience, business continuity, and incident response capabilities. </a:t>
            </a:r>
            <a:endParaRPr sz="2000">
              <a:latin typeface="Times New Roman" panose="02020603050405020304" pitchFamily="18" charset="0"/>
              <a:cs typeface="Times New Roman" panose="02020603050405020304" pitchFamily="18" charset="0"/>
            </a:endParaRPr>
          </a:p>
          <a:p>
            <a:pPr marL="342900" indent="-342900" algn="just" fontAlgn="t">
              <a:buFont typeface="Arial" panose="020B0604020202020204" pitchFamily="34" charset="0"/>
              <a:buChar char="•"/>
            </a:pPr>
            <a:r>
              <a:rPr sz="2000">
                <a:latin typeface="Times New Roman" panose="02020603050405020304" pitchFamily="18" charset="0"/>
                <a:cs typeface="Times New Roman" panose="02020603050405020304" pitchFamily="18" charset="0"/>
              </a:rPr>
              <a:t> To understand the importance of continuous improvement and adaptive cybersecurity practices in evolving threat environments.</a:t>
            </a:r>
            <a:endParaRPr sz="2000">
              <a:latin typeface="Times New Roman" panose="02020603050405020304" pitchFamily="18" charset="0"/>
              <a:cs typeface="Times New Roman" panose="02020603050405020304" pitchFamily="18" charset="0"/>
            </a:endParaRPr>
          </a:p>
        </p:txBody>
      </p:sp>
      <p:pic>
        <p:nvPicPr>
          <p:cNvPr id="9" name="Picture 8"/>
          <p:cNvPicPr/>
          <p:nvPr/>
        </p:nvPicPr>
        <p:blipFill>
          <a:blip r:embed="rId1"/>
          <a:stretch>
            <a:fillRect/>
          </a:stretch>
        </p:blipFill>
        <p:spPr>
          <a:xfrm>
            <a:off x="6015990" y="2295525"/>
            <a:ext cx="2889250" cy="26320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86385" y="215900"/>
            <a:ext cx="6024880" cy="583565"/>
          </a:xfrm>
          <a:prstGeom prst="rect">
            <a:avLst/>
          </a:prstGeom>
          <a:noFill/>
        </p:spPr>
        <p:txBody>
          <a:bodyPr wrap="square" rtlCol="0">
            <a:spAutoFit/>
          </a:bodyPr>
          <a:p>
            <a:pPr algn="ctr"/>
            <a:r>
              <a:rPr lang="en-US" sz="3200" dirty="0">
                <a:solidFill>
                  <a:schemeClr val="tx1"/>
                </a:solidFill>
                <a:latin typeface="Times New Roman" panose="02020603050405020304" pitchFamily="18" charset="0"/>
                <a:ea typeface="Calibri" panose="020F0502020204030204" pitchFamily="34" charset="-122"/>
                <a:cs typeface="Times New Roman" panose="02020603050405020304" pitchFamily="18" charset="0"/>
                <a:sym typeface="+mn-ea"/>
              </a:rPr>
              <a:t>Literature Review</a:t>
            </a:r>
            <a:endParaRPr lang="en-US" sz="3200" dirty="0">
              <a:solidFill>
                <a:schemeClr val="tx1"/>
              </a:solidFill>
              <a:latin typeface="Times New Roman" panose="02020603050405020304" pitchFamily="18" charset="0"/>
              <a:ea typeface="Calibri" panose="020F0502020204030204" pitchFamily="34" charset="-122"/>
              <a:cs typeface="Times New Roman" panose="02020603050405020304" pitchFamily="18" charset="0"/>
              <a:sym typeface="+mn-ea"/>
            </a:endParaRPr>
          </a:p>
        </p:txBody>
      </p:sp>
      <p:sp>
        <p:nvSpPr>
          <p:cNvPr id="4" name="Text Box 3"/>
          <p:cNvSpPr txBox="1"/>
          <p:nvPr/>
        </p:nvSpPr>
        <p:spPr>
          <a:xfrm>
            <a:off x="417830" y="1336040"/>
            <a:ext cx="7576185" cy="4652645"/>
          </a:xfrm>
          <a:prstGeom prst="rect">
            <a:avLst/>
          </a:prstGeom>
        </p:spPr>
        <p:txBody>
          <a:bodyPr wrap="square">
            <a:noAutofit/>
          </a:bodyPr>
          <a:p>
            <a:pPr marL="285750" indent="-285750">
              <a:lnSpc>
                <a:spcPct val="90000"/>
              </a:lnSpc>
              <a:buFont typeface="Arial" panose="020B0604020202020204" pitchFamily="34" charset="0"/>
              <a:buChar char="•"/>
            </a:pPr>
            <a:r>
              <a:rPr sz="2000">
                <a:latin typeface="Times New Roman" panose="02020603050405020304" pitchFamily="18" charset="0"/>
                <a:cs typeface="Times New Roman" panose="02020603050405020304" pitchFamily="18" charset="0"/>
              </a:rPr>
              <a:t>Research highlights the growing importance of Cyber Crisis Management (CCM) in strengthening organizational resilience against evolving cyber threats. </a:t>
            </a:r>
            <a:endParaRPr sz="2000">
              <a:latin typeface="Times New Roman" panose="02020603050405020304" pitchFamily="18" charset="0"/>
              <a:cs typeface="Times New Roman" panose="02020603050405020304" pitchFamily="18" charset="0"/>
            </a:endParaRPr>
          </a:p>
          <a:p>
            <a:pPr marL="285750" indent="-285750">
              <a:lnSpc>
                <a:spcPct val="90000"/>
              </a:lnSpc>
              <a:buFont typeface="Arial" panose="020B0604020202020204" pitchFamily="34" charset="0"/>
              <a:buChar char="•"/>
            </a:pPr>
            <a:r>
              <a:rPr sz="2000">
                <a:latin typeface="Times New Roman" panose="02020603050405020304" pitchFamily="18" charset="0"/>
                <a:cs typeface="Times New Roman" panose="02020603050405020304" pitchFamily="18" charset="0"/>
              </a:rPr>
              <a:t> Studies emphasize the role of standards-based frameworks, especially the National Institute of Standards and Technology Cybersecurity Framework (NIST CSF), in improving risk management and incident response capabilities. </a:t>
            </a:r>
            <a:endParaRPr sz="2000">
              <a:latin typeface="Times New Roman" panose="02020603050405020304" pitchFamily="18" charset="0"/>
              <a:cs typeface="Times New Roman" panose="02020603050405020304" pitchFamily="18" charset="0"/>
            </a:endParaRPr>
          </a:p>
          <a:p>
            <a:pPr marL="285750" indent="-285750">
              <a:lnSpc>
                <a:spcPct val="90000"/>
              </a:lnSpc>
              <a:buFont typeface="Arial" panose="020B0604020202020204" pitchFamily="34" charset="0"/>
              <a:buChar char="•"/>
            </a:pPr>
            <a:r>
              <a:rPr sz="2000">
                <a:latin typeface="Times New Roman" panose="02020603050405020304" pitchFamily="18" charset="0"/>
                <a:cs typeface="Times New Roman" panose="02020603050405020304" pitchFamily="18" charset="0"/>
              </a:rPr>
              <a:t> Prior literature identifies effective incident response, governance, and threat intelligence as key factors in minimizing operational and reputational damage during cyber crises. </a:t>
            </a:r>
            <a:endParaRPr sz="2000">
              <a:latin typeface="Times New Roman" panose="02020603050405020304" pitchFamily="18" charset="0"/>
              <a:cs typeface="Times New Roman" panose="02020603050405020304" pitchFamily="18" charset="0"/>
            </a:endParaRPr>
          </a:p>
          <a:p>
            <a:pPr marL="285750" indent="-285750">
              <a:lnSpc>
                <a:spcPct val="90000"/>
              </a:lnSpc>
              <a:buFont typeface="Arial" panose="020B0604020202020204" pitchFamily="34" charset="0"/>
              <a:buChar char="•"/>
            </a:pPr>
            <a:r>
              <a:rPr sz="2000">
                <a:latin typeface="Times New Roman" panose="02020603050405020304" pitchFamily="18" charset="0"/>
                <a:cs typeface="Times New Roman" panose="02020603050405020304" pitchFamily="18" charset="0"/>
              </a:rPr>
              <a:t> Researchers also discuss emerging risks from AI-driven attacks, cloud systems, supply chain vulnerabilities, and critical infrastructure threats. </a:t>
            </a:r>
            <a:endParaRPr sz="2000">
              <a:latin typeface="Times New Roman" panose="02020603050405020304" pitchFamily="18" charset="0"/>
              <a:cs typeface="Times New Roman" panose="02020603050405020304" pitchFamily="18" charset="0"/>
            </a:endParaRPr>
          </a:p>
          <a:p>
            <a:pPr marL="285750" indent="-285750">
              <a:lnSpc>
                <a:spcPct val="90000"/>
              </a:lnSpc>
              <a:buFont typeface="Arial" panose="020B0604020202020204" pitchFamily="34" charset="0"/>
              <a:buChar char="•"/>
            </a:pPr>
            <a:r>
              <a:rPr sz="2000">
                <a:latin typeface="Times New Roman" panose="02020603050405020304" pitchFamily="18" charset="0"/>
                <a:cs typeface="Times New Roman" panose="02020603050405020304" pitchFamily="18" charset="0"/>
              </a:rPr>
              <a:t> Overall, the literature supports the need for integrated, continuously evolving cybersecurity and crisis management strategies.</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334645" y="173355"/>
            <a:ext cx="6054725" cy="583565"/>
          </a:xfrm>
          <a:prstGeom prst="rect">
            <a:avLst/>
          </a:prstGeom>
          <a:noFill/>
        </p:spPr>
        <p:txBody>
          <a:bodyPr wrap="square" rtlCol="0">
            <a:spAutoFit/>
          </a:bodyPr>
          <a:p>
            <a:pPr algn="ctr"/>
            <a:r>
              <a:rPr lang="en-US" sz="3200" dirty="0">
                <a:solidFill>
                  <a:schemeClr val="tx1"/>
                </a:solidFill>
                <a:latin typeface="Times New Roman" panose="02020603050405020304" pitchFamily="18" charset="0"/>
                <a:ea typeface="Calibri" panose="020F0502020204030204" pitchFamily="34" charset="-122"/>
                <a:cs typeface="Times New Roman" panose="02020603050405020304" pitchFamily="18" charset="0"/>
                <a:sym typeface="+mn-ea"/>
              </a:rPr>
              <a:t>Data Analysis</a:t>
            </a:r>
            <a:endParaRPr lang="en-US" sz="3200" dirty="0">
              <a:solidFill>
                <a:schemeClr val="tx1"/>
              </a:solidFill>
              <a:latin typeface="Times New Roman" panose="02020603050405020304" pitchFamily="18" charset="0"/>
              <a:ea typeface="Calibri" panose="020F0502020204030204" pitchFamily="34" charset="-122"/>
              <a:cs typeface="Times New Roman" panose="02020603050405020304" pitchFamily="18" charset="0"/>
              <a:sym typeface="+mn-ea"/>
            </a:endParaRPr>
          </a:p>
        </p:txBody>
      </p:sp>
      <p:graphicFrame>
        <p:nvGraphicFramePr>
          <p:cNvPr id="4" name="Table 3"/>
          <p:cNvGraphicFramePr/>
          <p:nvPr/>
        </p:nvGraphicFramePr>
        <p:xfrm>
          <a:off x="1032510" y="1306830"/>
          <a:ext cx="5357495" cy="4331970"/>
        </p:xfrm>
        <a:graphic>
          <a:graphicData uri="http://schemas.openxmlformats.org/drawingml/2006/table">
            <a:tbl>
              <a:tblPr/>
              <a:tblGrid>
                <a:gridCol w="1671955"/>
                <a:gridCol w="1147445"/>
                <a:gridCol w="790575"/>
                <a:gridCol w="842010"/>
                <a:gridCol w="905510"/>
              </a:tblGrid>
              <a:tr h="1144905">
                <a:tc>
                  <a:txBody>
                    <a:bodyPr/>
                    <a:p>
                      <a:pPr marL="85725" indent="0" algn="ctr">
                        <a:spcBef>
                          <a:spcPct val="0"/>
                        </a:spcBef>
                        <a:spcAft>
                          <a:spcPct val="0"/>
                        </a:spcAft>
                      </a:pPr>
                      <a:r>
                        <a:rPr sz="1000" b="1">
                          <a:latin typeface="Times New Roman" panose="02020603050405020304"/>
                          <a:ea typeface="SimSun" panose="02010600030101010101" pitchFamily="2" charset="-122"/>
                        </a:rPr>
                        <a:t>Threat Category</a:t>
                      </a:r>
                      <a:endParaRPr sz="1000" b="1">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solidFill>
                      <a:srgbClr val="D5E8F0"/>
                    </a:solidFill>
                  </a:tcPr>
                </a:tc>
                <a:tc>
                  <a:txBody>
                    <a:bodyPr/>
                    <a:p>
                      <a:pPr marL="85725" indent="0" algn="ctr">
                        <a:spcBef>
                          <a:spcPct val="0"/>
                        </a:spcBef>
                        <a:spcAft>
                          <a:spcPct val="0"/>
                        </a:spcAft>
                      </a:pPr>
                      <a:r>
                        <a:rPr sz="1000" b="1">
                          <a:latin typeface="Times New Roman" panose="02020603050405020304"/>
                          <a:ea typeface="SimSun" panose="02010600030101010101" pitchFamily="2" charset="-122"/>
                        </a:rPr>
                        <a:t>Avg. Financial Impact</a:t>
                      </a:r>
                      <a:endParaRPr sz="1000" b="1">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solidFill>
                      <a:srgbClr val="D5E8F0"/>
                    </a:solidFill>
                  </a:tcPr>
                </a:tc>
                <a:tc>
                  <a:txBody>
                    <a:bodyPr/>
                    <a:p>
                      <a:pPr marL="85725" indent="0" algn="ctr">
                        <a:spcBef>
                          <a:spcPct val="0"/>
                        </a:spcBef>
                        <a:spcAft>
                          <a:spcPct val="0"/>
                        </a:spcAft>
                      </a:pPr>
                      <a:r>
                        <a:rPr sz="1000" b="1">
                          <a:latin typeface="Times New Roman" panose="02020603050405020304"/>
                          <a:ea typeface="SimSun" panose="02010600030101010101" pitchFamily="2" charset="-122"/>
                        </a:rPr>
                        <a:t>Avg. Dwell Time</a:t>
                      </a:r>
                      <a:endParaRPr sz="1000" b="1">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solidFill>
                      <a:srgbClr val="D5E8F0"/>
                    </a:solidFill>
                  </a:tcPr>
                </a:tc>
                <a:tc>
                  <a:txBody>
                    <a:bodyPr/>
                    <a:p>
                      <a:pPr marL="85725" indent="0" algn="ctr">
                        <a:spcBef>
                          <a:spcPct val="0"/>
                        </a:spcBef>
                        <a:spcAft>
                          <a:spcPct val="0"/>
                        </a:spcAft>
                      </a:pPr>
                      <a:r>
                        <a:rPr sz="1000" b="1">
                          <a:latin typeface="Times New Roman" panose="02020603050405020304"/>
                          <a:ea typeface="SimSun" panose="02010600030101010101" pitchFamily="2" charset="-122"/>
                        </a:rPr>
                        <a:t>Trend</a:t>
                      </a:r>
                      <a:endParaRPr sz="1000" b="1">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solidFill>
                      <a:srgbClr val="D5E8F0"/>
                    </a:solidFill>
                  </a:tcPr>
                </a:tc>
                <a:tc>
                  <a:txBody>
                    <a:bodyPr/>
                    <a:p>
                      <a:pPr marL="85725" indent="0" algn="ctr">
                        <a:spcBef>
                          <a:spcPct val="0"/>
                        </a:spcBef>
                        <a:spcAft>
                          <a:spcPct val="0"/>
                        </a:spcAft>
                      </a:pPr>
                      <a:r>
                        <a:rPr sz="1000" b="1">
                          <a:latin typeface="Times New Roman" panose="02020603050405020304"/>
                          <a:ea typeface="SimSun" panose="02010600030101010101" pitchFamily="2" charset="-122"/>
                        </a:rPr>
                        <a:t>Source</a:t>
                      </a:r>
                      <a:endParaRPr sz="1000" b="1">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solidFill>
                      <a:srgbClr val="D5E8F0"/>
                    </a:solidFill>
                  </a:tcPr>
                </a:tc>
              </a:tr>
              <a:tr h="548005">
                <a:tc>
                  <a:txBody>
                    <a:bodyPr/>
                    <a:p>
                      <a:pPr marL="85725" indent="0" algn="ctr">
                        <a:spcBef>
                          <a:spcPct val="0"/>
                        </a:spcBef>
                        <a:spcAft>
                          <a:spcPct val="0"/>
                        </a:spcAft>
                      </a:pPr>
                      <a:r>
                        <a:rPr sz="1000">
                          <a:latin typeface="Times New Roman" panose="02020603050405020304"/>
                          <a:ea typeface="SimSun" panose="02010600030101010101" pitchFamily="2" charset="-122"/>
                        </a:rPr>
                        <a:t>Ransomware</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$5.68M</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49 days</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 Rising</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[2][4]</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r>
              <a:tr h="696595">
                <a:tc>
                  <a:txBody>
                    <a:bodyPr/>
                    <a:p>
                      <a:pPr marL="85725" indent="0" algn="ctr">
                        <a:spcBef>
                          <a:spcPct val="0"/>
                        </a:spcBef>
                        <a:spcAft>
                          <a:spcPct val="0"/>
                        </a:spcAft>
                      </a:pPr>
                      <a:r>
                        <a:rPr sz="1000">
                          <a:latin typeface="Times New Roman" panose="02020603050405020304"/>
                          <a:ea typeface="SimSun" panose="02010600030101010101" pitchFamily="2" charset="-122"/>
                        </a:rPr>
                        <a:t>Phishing/Social Engineering</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$4.76M</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24 days</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 Rising</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[2][4]</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r>
              <a:tr h="697865">
                <a:tc>
                  <a:txBody>
                    <a:bodyPr/>
                    <a:p>
                      <a:pPr marL="85725" indent="0" algn="ctr">
                        <a:spcBef>
                          <a:spcPct val="0"/>
                        </a:spcBef>
                        <a:spcAft>
                          <a:spcPct val="0"/>
                        </a:spcAft>
                      </a:pPr>
                      <a:r>
                        <a:rPr sz="1000">
                          <a:latin typeface="Times New Roman" panose="02020603050405020304"/>
                          <a:ea typeface="SimSun" panose="02010600030101010101" pitchFamily="2" charset="-122"/>
                        </a:rPr>
                        <a:t>Supply Chain Attack</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$4.46M</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197 days</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 Rising</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[2][4]</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r>
              <a:tr h="547370">
                <a:tc>
                  <a:txBody>
                    <a:bodyPr/>
                    <a:p>
                      <a:pPr marL="85725" indent="0" algn="ctr">
                        <a:spcBef>
                          <a:spcPct val="0"/>
                        </a:spcBef>
                        <a:spcAft>
                          <a:spcPct val="0"/>
                        </a:spcAft>
                      </a:pPr>
                      <a:r>
                        <a:rPr sz="1000">
                          <a:latin typeface="Times New Roman" panose="02020603050405020304"/>
                          <a:ea typeface="SimSun" panose="02010600030101010101" pitchFamily="2" charset="-122"/>
                        </a:rPr>
                        <a:t>Insider Threat</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$4.90M</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85 days</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 Stable</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[2][4]</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r>
              <a:tr h="697230">
                <a:tc>
                  <a:txBody>
                    <a:bodyPr/>
                    <a:p>
                      <a:pPr marL="85725" indent="0" algn="ctr">
                        <a:spcBef>
                          <a:spcPct val="0"/>
                        </a:spcBef>
                        <a:spcAft>
                          <a:spcPct val="0"/>
                        </a:spcAft>
                      </a:pPr>
                      <a:r>
                        <a:rPr sz="1000">
                          <a:latin typeface="Times New Roman" panose="02020603050405020304"/>
                          <a:ea typeface="SimSun" panose="02010600030101010101" pitchFamily="2" charset="-122"/>
                        </a:rPr>
                        <a:t>Zero-Day Exploits</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$4.55M</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132 days</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 Rising</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c>
                  <a:txBody>
                    <a:bodyPr/>
                    <a:p>
                      <a:pPr marL="85725" indent="0" algn="ctr">
                        <a:spcBef>
                          <a:spcPct val="0"/>
                        </a:spcBef>
                        <a:spcAft>
                          <a:spcPct val="0"/>
                        </a:spcAft>
                      </a:pPr>
                      <a:r>
                        <a:rPr sz="1000">
                          <a:latin typeface="Times New Roman" panose="02020603050405020304"/>
                          <a:ea typeface="SimSun" panose="02010600030101010101" pitchFamily="2" charset="-122"/>
                        </a:rPr>
                        <a:t>[2][4]</a:t>
                      </a:r>
                      <a:endParaRPr sz="1000">
                        <a:latin typeface="Times New Roman" panose="02020603050405020304"/>
                        <a:ea typeface="SimSun" panose="02010600030101010101" pitchFamily="2" charset="-122"/>
                      </a:endParaRPr>
                    </a:p>
                  </a:txBody>
                  <a:tcPr marL="63500" marR="63500" marT="50800" marB="50800" anchor="ctr" anchorCtr="0">
                    <a:lnL w="3175" cap="flat" cmpd="sng">
                      <a:solidFill>
                        <a:srgbClr val="AAAAAA"/>
                      </a:solidFill>
                      <a:prstDash val="solid"/>
                      <a:headEnd type="none" w="med" len="med"/>
                      <a:tailEnd type="none" w="med" len="med"/>
                    </a:lnL>
                    <a:lnR w="3175" cap="flat" cmpd="sng">
                      <a:solidFill>
                        <a:srgbClr val="AAAAAA"/>
                      </a:solidFill>
                      <a:prstDash val="solid"/>
                      <a:headEnd type="none" w="med" len="med"/>
                      <a:tailEnd type="none" w="med" len="med"/>
                    </a:lnR>
                    <a:lnT w="3175" cap="flat" cmpd="sng">
                      <a:solidFill>
                        <a:srgbClr val="AAAAAA"/>
                      </a:solidFill>
                      <a:prstDash val="solid"/>
                      <a:headEnd type="none" w="med" len="med"/>
                      <a:tailEnd type="none" w="med" len="med"/>
                    </a:lnT>
                    <a:lnB w="3175" cap="flat" cmpd="sng">
                      <a:solidFill>
                        <a:srgbClr val="AAAAAA"/>
                      </a:solidFill>
                      <a:prstDash val="solid"/>
                      <a:headEnd type="none" w="med" len="med"/>
                      <a:tailEnd type="none" w="med" len="med"/>
                    </a:lnB>
                    <a:noFill/>
                  </a:tcPr>
                </a:tc>
              </a:tr>
            </a:tbl>
          </a:graphicData>
        </a:graphic>
      </p:graphicFrame>
      <p:sp>
        <p:nvSpPr>
          <p:cNvPr id="5" name="Text Box 4"/>
          <p:cNvSpPr txBox="1"/>
          <p:nvPr/>
        </p:nvSpPr>
        <p:spPr>
          <a:xfrm>
            <a:off x="1032510" y="5873432"/>
            <a:ext cx="5080000" cy="583565"/>
          </a:xfrm>
          <a:prstGeom prst="rect">
            <a:avLst/>
          </a:prstGeom>
        </p:spPr>
        <p:txBody>
          <a:bodyPr>
            <a:spAutoFit/>
          </a:bodyPr>
          <a:p>
            <a:pPr marL="0" indent="0" algn="ctr" defTabSz="266700">
              <a:spcBef>
                <a:spcPct val="0"/>
              </a:spcBef>
              <a:spcAft>
                <a:spcPct val="0"/>
              </a:spcAft>
            </a:pPr>
            <a:r>
              <a:rPr sz="1600" i="1">
                <a:latin typeface="Times New Roman" panose="02020603050405020304"/>
                <a:ea typeface="SimSun" panose="02010600030101010101" pitchFamily="2" charset="-122"/>
              </a:rPr>
              <a:t> (Source: IBM Cost of a Data Breach 2024 [2]; Mandiant M-Trends 2024 [4])</a:t>
            </a:r>
            <a:endParaRPr sz="1600" i="1">
              <a:latin typeface="Times New Roman" panose="02020603050405020304"/>
              <a:ea typeface="SimSun"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08610" y="132080"/>
            <a:ext cx="6000750" cy="583565"/>
          </a:xfrm>
          <a:prstGeom prst="rect">
            <a:avLst/>
          </a:prstGeom>
          <a:noFill/>
        </p:spPr>
        <p:txBody>
          <a:bodyPr wrap="square" rtlCol="0">
            <a:spAutoFit/>
          </a:bodyPr>
          <a:p>
            <a:pPr marL="0" indent="0" algn="ctr">
              <a:buNone/>
            </a:pPr>
            <a:r>
              <a:rPr lang="en-US" sz="3200" dirty="0">
                <a:solidFill>
                  <a:schemeClr val="tx1"/>
                </a:solidFill>
                <a:latin typeface="Times New Roman" panose="02020603050405020304" pitchFamily="18" charset="0"/>
                <a:ea typeface="Calibri" panose="020F0502020204030204" pitchFamily="34" charset="-122"/>
                <a:cs typeface="Times New Roman" panose="02020603050405020304" pitchFamily="18" charset="0"/>
                <a:sym typeface="+mn-ea"/>
              </a:rPr>
              <a:t>Conclusion</a:t>
            </a:r>
            <a:endParaRPr lang="en-US" sz="3200" dirty="0">
              <a:solidFill>
                <a:schemeClr val="tx1"/>
              </a:solidFill>
              <a:latin typeface="Times New Roman" panose="02020603050405020304" pitchFamily="18" charset="0"/>
              <a:ea typeface="Calibri" panose="020F0502020204030204" pitchFamily="34" charset="-122"/>
              <a:cs typeface="Times New Roman" panose="02020603050405020304" pitchFamily="18" charset="0"/>
              <a:sym typeface="+mn-ea"/>
            </a:endParaRPr>
          </a:p>
        </p:txBody>
      </p:sp>
      <p:sp>
        <p:nvSpPr>
          <p:cNvPr id="3" name="Text Box 2"/>
          <p:cNvSpPr txBox="1"/>
          <p:nvPr/>
        </p:nvSpPr>
        <p:spPr>
          <a:xfrm>
            <a:off x="443865" y="1160145"/>
            <a:ext cx="7303135" cy="4463415"/>
          </a:xfrm>
          <a:prstGeom prst="rect">
            <a:avLst/>
          </a:prstGeom>
        </p:spPr>
        <p:txBody>
          <a:bodyPr wrap="square">
            <a:noAutofit/>
          </a:bodyPr>
          <a:p>
            <a:pPr marL="342900" indent="-342900">
              <a:buFont typeface="Arial" panose="020B0604020202020204" pitchFamily="34" charset="0"/>
              <a:buChar char="•"/>
            </a:pPr>
            <a:r>
              <a:rPr sz="2000">
                <a:latin typeface="Times New Roman" panose="02020603050405020304" pitchFamily="18" charset="0"/>
                <a:cs typeface="Times New Roman" panose="02020603050405020304" pitchFamily="18" charset="0"/>
              </a:rPr>
              <a:t>Cyber Crisis Management (CCM) is now a critical business function combining technology, governance, legal compliance, business continuity, and communication. </a:t>
            </a:r>
            <a:endParaRPr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sz="2000">
                <a:latin typeface="Times New Roman" panose="02020603050405020304" pitchFamily="18" charset="0"/>
                <a:cs typeface="Times New Roman" panose="02020603050405020304" pitchFamily="18" charset="0"/>
              </a:rPr>
              <a:t> The National Institute of Standards and Technology Cybersecurity Framework (NIST CSF 2.0) provides a comprehensive approach through six core functions: GOVERN, IDENTIFY, PROTECT, DETECT, RESPOND, and RECOVER. </a:t>
            </a:r>
            <a:endParaRPr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sz="2000">
                <a:latin typeface="Times New Roman" panose="02020603050405020304" pitchFamily="18" charset="0"/>
                <a:cs typeface="Times New Roman" panose="02020603050405020304" pitchFamily="18" charset="0"/>
              </a:rPr>
              <a:t> CSF 2.0 emphasizes leadership involvement and organizational resilience, not just technical security controls. </a:t>
            </a:r>
            <a:endParaRPr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sz="2000">
                <a:latin typeface="Times New Roman" panose="02020603050405020304" pitchFamily="18" charset="0"/>
                <a:cs typeface="Times New Roman" panose="02020603050405020304" pitchFamily="18" charset="0"/>
              </a:rPr>
              <a:t> Organizations with tested incident response plans experience lower breach costs, faster recovery, and stronger stakeholder trust. </a:t>
            </a:r>
            <a:endParaRPr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sz="2000">
                <a:latin typeface="Times New Roman" panose="02020603050405020304" pitchFamily="18" charset="0"/>
                <a:cs typeface="Times New Roman" panose="02020603050405020304" pitchFamily="18" charset="0"/>
              </a:rPr>
              <a:t> Emerging challenges such as AI-driven attacks, quantum computing, OT vulnerabilities, and geopolitical cyber threats require continuous improvement in CCM strategies. </a:t>
            </a:r>
            <a:endParaRPr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sz="2000">
                <a:latin typeface="Times New Roman" panose="02020603050405020304" pitchFamily="18" charset="0"/>
                <a:cs typeface="Times New Roman" panose="02020603050405020304" pitchFamily="18" charset="0"/>
              </a:rPr>
              <a:t> Long-term cyber resilience depends on well-coordinated, regularly tested, and continuously enhanced crisis management capabilities. </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1"/>
          <p:cNvSpPr/>
          <p:nvPr/>
        </p:nvSpPr>
        <p:spPr>
          <a:xfrm>
            <a:off x="78740" y="255905"/>
            <a:ext cx="6568440" cy="457200"/>
          </a:xfrm>
          <a:prstGeom prst="rect">
            <a:avLst/>
          </a:prstGeom>
          <a:noFill/>
        </p:spPr>
        <p:txBody>
          <a:bodyPr wrap="square" lIns="0" tIns="0" rIns="0" bIns="0" rtlCol="0" anchor="ctr"/>
          <a:lstStyle/>
          <a:p>
            <a:pPr marL="0" indent="0" algn="ctr">
              <a:buNone/>
            </a:pPr>
            <a:r>
              <a:rPr lang="en-US" sz="3200" dirty="0">
                <a:solidFill>
                  <a:schemeClr val="tx1"/>
                </a:solidFill>
                <a:latin typeface="Times New Roman" panose="02020603050405020304" pitchFamily="18" charset="0"/>
                <a:ea typeface="Calibri" panose="020F0502020204030204" pitchFamily="34" charset="-122"/>
                <a:cs typeface="Times New Roman" panose="02020603050405020304" pitchFamily="18" charset="0"/>
              </a:rPr>
              <a:t>Future Scope &amp; Research Directions</a:t>
            </a:r>
            <a:endParaRPr lang="en-US" sz="3200" dirty="0">
              <a:solidFill>
                <a:schemeClr val="tx1"/>
              </a:solidFill>
              <a:latin typeface="Times New Roman" panose="02020603050405020304" pitchFamily="18" charset="0"/>
              <a:ea typeface="Calibri" panose="020F0502020204030204" pitchFamily="34" charset="-122"/>
              <a:cs typeface="Times New Roman" panose="02020603050405020304" pitchFamily="18" charset="0"/>
            </a:endParaRPr>
          </a:p>
        </p:txBody>
      </p:sp>
      <p:sp>
        <p:nvSpPr>
          <p:cNvPr id="2" name="Text Box 1"/>
          <p:cNvSpPr txBox="1"/>
          <p:nvPr/>
        </p:nvSpPr>
        <p:spPr>
          <a:xfrm>
            <a:off x="487045" y="1044575"/>
            <a:ext cx="6624955" cy="5631180"/>
          </a:xfrm>
          <a:prstGeom prst="rect">
            <a:avLst/>
          </a:prstGeom>
        </p:spPr>
        <p:txBody>
          <a:bodyPr wrap="square">
            <a:spAutoFit/>
          </a:bodyPr>
          <a:p>
            <a:pPr marL="342900" indent="-342900" fontAlgn="t">
              <a:buFont typeface="Arial" panose="020B0604020202020204" pitchFamily="34" charset="0"/>
              <a:buChar char="•"/>
            </a:pPr>
            <a:r>
              <a:rPr sz="2000">
                <a:latin typeface="Times New Roman" panose="02020603050405020304" pitchFamily="18" charset="0"/>
                <a:cs typeface="Times New Roman" panose="02020603050405020304" pitchFamily="18" charset="0"/>
              </a:rPr>
              <a:t>Future CCM strategies must address emerging threats such as AI-driven cyberattacks, deepfakes, automated malware, and advanced social engineering. </a:t>
            </a:r>
            <a:endParaRPr sz="2000">
              <a:latin typeface="Times New Roman" panose="02020603050405020304" pitchFamily="18" charset="0"/>
              <a:cs typeface="Times New Roman" panose="02020603050405020304" pitchFamily="18" charset="0"/>
            </a:endParaRPr>
          </a:p>
          <a:p>
            <a:pPr marL="342900" indent="-342900" fontAlgn="t">
              <a:buFont typeface="Arial" panose="020B0604020202020204" pitchFamily="34" charset="0"/>
              <a:buChar char="•"/>
            </a:pPr>
            <a:r>
              <a:rPr sz="2000">
                <a:latin typeface="Times New Roman" panose="02020603050405020304" pitchFamily="18" charset="0"/>
                <a:cs typeface="Times New Roman" panose="02020603050405020304" pitchFamily="18" charset="0"/>
              </a:rPr>
              <a:t> AI will also strengthen cyber defense through automated detection, threat analysis, and faster incident response. </a:t>
            </a:r>
            <a:endParaRPr sz="2000">
              <a:latin typeface="Times New Roman" panose="02020603050405020304" pitchFamily="18" charset="0"/>
              <a:cs typeface="Times New Roman" panose="02020603050405020304" pitchFamily="18" charset="0"/>
            </a:endParaRPr>
          </a:p>
          <a:p>
            <a:pPr marL="342900" indent="-342900" fontAlgn="t">
              <a:buFont typeface="Arial" panose="020B0604020202020204" pitchFamily="34" charset="0"/>
              <a:buChar char="•"/>
            </a:pPr>
            <a:r>
              <a:rPr sz="2000">
                <a:latin typeface="Times New Roman" panose="02020603050405020304" pitchFamily="18" charset="0"/>
                <a:cs typeface="Times New Roman" panose="02020603050405020304" pitchFamily="18" charset="0"/>
              </a:rPr>
              <a:t> Quantum computing introduces long-term cryptographic risks, requiring organizations to adopt quantum-safe security measures. </a:t>
            </a:r>
            <a:endParaRPr sz="2000">
              <a:latin typeface="Times New Roman" panose="02020603050405020304" pitchFamily="18" charset="0"/>
              <a:cs typeface="Times New Roman" panose="02020603050405020304" pitchFamily="18" charset="0"/>
            </a:endParaRPr>
          </a:p>
          <a:p>
            <a:pPr marL="342900" indent="-342900" fontAlgn="t">
              <a:buFont typeface="Arial" panose="020B0604020202020204" pitchFamily="34" charset="0"/>
              <a:buChar char="•"/>
            </a:pPr>
            <a:r>
              <a:rPr sz="2000">
                <a:latin typeface="Times New Roman" panose="02020603050405020304" pitchFamily="18" charset="0"/>
                <a:cs typeface="Times New Roman" panose="02020603050405020304" pitchFamily="18" charset="0"/>
              </a:rPr>
              <a:t> Increasing attacks on critical infrastructure and OT/ICS systems demand integrated IT–OT crisis management approaches. </a:t>
            </a:r>
            <a:endParaRPr sz="2000">
              <a:latin typeface="Times New Roman" panose="02020603050405020304" pitchFamily="18" charset="0"/>
              <a:cs typeface="Times New Roman" panose="02020603050405020304" pitchFamily="18" charset="0"/>
            </a:endParaRPr>
          </a:p>
          <a:p>
            <a:pPr marL="342900" indent="-342900" fontAlgn="t">
              <a:buFont typeface="Arial" panose="020B0604020202020204" pitchFamily="34" charset="0"/>
              <a:buChar char="•"/>
            </a:pPr>
            <a:r>
              <a:rPr sz="2000">
                <a:latin typeface="Times New Roman" panose="02020603050405020304" pitchFamily="18" charset="0"/>
                <a:cs typeface="Times New Roman" panose="02020603050405020304" pitchFamily="18" charset="0"/>
              </a:rPr>
              <a:t> Cybersecurity is shifting from prevention-focused security to resilience-based security, emphasizing rapid detection, response, recovery, and adaptability. </a:t>
            </a:r>
            <a:endParaRPr sz="2000">
              <a:latin typeface="Times New Roman" panose="02020603050405020304" pitchFamily="18" charset="0"/>
              <a:cs typeface="Times New Roman" panose="02020603050405020304" pitchFamily="18" charset="0"/>
            </a:endParaRPr>
          </a:p>
          <a:p>
            <a:pPr marL="342900" indent="-342900" fontAlgn="t">
              <a:buFont typeface="Arial" panose="020B0604020202020204" pitchFamily="34" charset="0"/>
              <a:buChar char="•"/>
            </a:pPr>
            <a:r>
              <a:rPr sz="2000">
                <a:latin typeface="Times New Roman" panose="02020603050405020304" pitchFamily="18" charset="0"/>
                <a:cs typeface="Times New Roman" panose="02020603050405020304" pitchFamily="18" charset="0"/>
              </a:rPr>
              <a:t> The National Institute of Standards and Technology Cybersecurity Framework (NIST CSF 2.0) supports this resilience-focused approach for future cyber crisis management. </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334645" y="132080"/>
            <a:ext cx="6122670" cy="725805"/>
          </a:xfrm>
          <a:prstGeom prst="rect">
            <a:avLst/>
          </a:prstGeom>
          <a:noFill/>
        </p:spPr>
        <p:txBody>
          <a:bodyPr wrap="square" rtlCol="0">
            <a:noAutofit/>
          </a:bodyPr>
          <a:p>
            <a:pPr algn="ctr">
              <a:lnSpc>
                <a:spcPct val="100000"/>
              </a:lnSpc>
            </a:pPr>
            <a:r>
              <a:rPr lang="en-GB" sz="3200" dirty="0">
                <a:solidFill>
                  <a:schemeClr val="tx1"/>
                </a:solidFill>
                <a:latin typeface="Times New Roman" panose="02020603050405020304" pitchFamily="18" charset="0"/>
                <a:cs typeface="Times New Roman" panose="02020603050405020304" pitchFamily="18" charset="0"/>
                <a:sym typeface="+mn-ea"/>
              </a:rPr>
              <a:t>References</a:t>
            </a:r>
            <a:endParaRPr lang="en-GB" sz="3200" dirty="0">
              <a:solidFill>
                <a:schemeClr val="tx1"/>
              </a:solidFill>
              <a:latin typeface="Times New Roman" panose="02020603050405020304" pitchFamily="18" charset="0"/>
              <a:cs typeface="Times New Roman" panose="02020603050405020304" pitchFamily="18" charset="0"/>
              <a:sym typeface="+mn-ea"/>
            </a:endParaRPr>
          </a:p>
        </p:txBody>
      </p:sp>
      <p:sp>
        <p:nvSpPr>
          <p:cNvPr id="2" name="Text Box 1"/>
          <p:cNvSpPr txBox="1"/>
          <p:nvPr/>
        </p:nvSpPr>
        <p:spPr>
          <a:xfrm>
            <a:off x="277495" y="1092835"/>
            <a:ext cx="8193405" cy="6295390"/>
          </a:xfrm>
          <a:prstGeom prst="rect">
            <a:avLst/>
          </a:prstGeom>
        </p:spPr>
        <p:txBody>
          <a:bodyPr>
            <a:noAutofit/>
          </a:bodyPr>
          <a:p>
            <a:pPr marL="0" indent="0" algn="just" defTabSz="266700">
              <a:spcBef>
                <a:spcPct val="0"/>
              </a:spcBef>
              <a:spcAft>
                <a:spcPct val="0"/>
              </a:spcAft>
            </a:pPr>
            <a:r>
              <a:rPr>
                <a:latin typeface="Times New Roman" panose="02020603050405020304"/>
                <a:ea typeface="SimSun" panose="02010600030101010101" pitchFamily="2" charset="-122"/>
              </a:rPr>
              <a:t>[1] National Institute of Standards and Technology (US). (2024). NIST Cybersecurity Framework 2.0: Quick-Start Guide for Creating and Using Organizational Profiles. US Department of Commerce, National Institute of Standards and Technology.</a:t>
            </a:r>
            <a:endParaRPr>
              <a:latin typeface="Times New Roman" panose="02020603050405020304"/>
              <a:ea typeface="SimSun" panose="02010600030101010101" pitchFamily="2" charset="-122"/>
            </a:endParaRPr>
          </a:p>
          <a:p>
            <a:pPr marL="0" indent="0" algn="just" defTabSz="266700">
              <a:spcBef>
                <a:spcPct val="0"/>
              </a:spcBef>
              <a:spcAft>
                <a:spcPct val="0"/>
              </a:spcAft>
            </a:pPr>
            <a:r>
              <a:rPr>
                <a:latin typeface="Times New Roman" panose="02020603050405020304"/>
                <a:ea typeface="SimSun" panose="02010600030101010101" pitchFamily="2" charset="-122"/>
              </a:rPr>
              <a:t>[2] IBM Security. (2024). Cost of a Data Breach Report 2024. IBM Corporation.</a:t>
            </a:r>
            <a:endParaRPr>
              <a:latin typeface="Times New Roman" panose="02020603050405020304"/>
              <a:ea typeface="SimSun" panose="02010600030101010101" pitchFamily="2" charset="-122"/>
            </a:endParaRPr>
          </a:p>
          <a:p>
            <a:pPr marL="0" indent="0" algn="just" defTabSz="266700">
              <a:spcBef>
                <a:spcPct val="0"/>
              </a:spcBef>
              <a:spcAft>
                <a:spcPct val="0"/>
              </a:spcAft>
            </a:pPr>
            <a:r>
              <a:rPr>
                <a:latin typeface="Times New Roman" panose="02020603050405020304"/>
                <a:ea typeface="SimSun" panose="02010600030101010101" pitchFamily="2" charset="-122"/>
              </a:rPr>
              <a:t>[3] Lochstampfor Jr, C. (2025). Network &amp; Cyber Security: Tools, Costs, and Efficiency.</a:t>
            </a:r>
            <a:endParaRPr>
              <a:latin typeface="Times New Roman" panose="02020603050405020304"/>
              <a:ea typeface="SimSun" panose="02010600030101010101" pitchFamily="2" charset="-122"/>
            </a:endParaRPr>
          </a:p>
          <a:p>
            <a:pPr marL="0" indent="0" algn="just" defTabSz="266700">
              <a:spcBef>
                <a:spcPct val="0"/>
              </a:spcBef>
              <a:spcAft>
                <a:spcPct val="0"/>
              </a:spcAft>
            </a:pPr>
            <a:r>
              <a:rPr>
                <a:latin typeface="Times New Roman" panose="02020603050405020304"/>
                <a:ea typeface="SimSun" panose="02010600030101010101" pitchFamily="2" charset="-122"/>
              </a:rPr>
              <a:t>[4] Mandiant. (2024). M-Trends 2024: Special Report. Google LLC. Retrieved from https://www.mandiant.com/resources/reports/m-trends-2024</a:t>
            </a:r>
            <a:endParaRPr>
              <a:latin typeface="Times New Roman" panose="02020603050405020304"/>
              <a:ea typeface="SimSun" panose="02010600030101010101" pitchFamily="2" charset="-122"/>
            </a:endParaRPr>
          </a:p>
          <a:p>
            <a:pPr marL="0" indent="0" algn="just" defTabSz="266700">
              <a:spcBef>
                <a:spcPct val="0"/>
              </a:spcBef>
              <a:spcAft>
                <a:spcPct val="0"/>
              </a:spcAft>
            </a:pPr>
            <a:r>
              <a:rPr>
                <a:latin typeface="Times New Roman" panose="02020603050405020304"/>
                <a:ea typeface="SimSun" panose="02010600030101010101" pitchFamily="2" charset="-122"/>
              </a:rPr>
              <a:t>[5] Kim, K., Lee, S., Ramachandran, S., &amp; Alzahrani, I. (2025). Cryptocurrency-driven ransomware syndicates operating on the darknet: A focused examination of the Arab world. Egyptian Informatics Journal, 30, 100665.</a:t>
            </a:r>
            <a:endParaRPr>
              <a:latin typeface="Times New Roman" panose="02020603050405020304"/>
              <a:ea typeface="SimSun" panose="02010600030101010101" pitchFamily="2" charset="-122"/>
            </a:endParaRPr>
          </a:p>
          <a:p>
            <a:pPr marL="0" indent="0" algn="just" defTabSz="266700">
              <a:spcBef>
                <a:spcPct val="0"/>
              </a:spcBef>
              <a:spcAft>
                <a:spcPct val="0"/>
              </a:spcAft>
            </a:pPr>
            <a:r>
              <a:rPr>
                <a:latin typeface="Times New Roman" panose="02020603050405020304"/>
                <a:ea typeface="SimSun" panose="02010600030101010101" pitchFamily="2" charset="-122"/>
              </a:rPr>
              <a:t>[6] Babu, M., &amp; Moharir, M. (2024, November). Leveraging XGBoost Machine Learning Algorithm for Common Vulnerabilities and Exposures (CVE) Exploitability Classification. In 2024 8th International Conference on Computational System and Information Technology for Sustainable Solutions (CSITSS) (pp. 1–6). IEEE.</a:t>
            </a:r>
            <a:endParaRPr>
              <a:latin typeface="Times New Roman" panose="02020603050405020304"/>
              <a:ea typeface="SimSun" panose="02010600030101010101" pitchFamily="2" charset="-122"/>
            </a:endParaRPr>
          </a:p>
          <a:p>
            <a:pPr marL="0" indent="0" algn="just" defTabSz="266700">
              <a:spcBef>
                <a:spcPct val="0"/>
              </a:spcBef>
              <a:spcAft>
                <a:spcPct val="0"/>
              </a:spcAft>
            </a:pPr>
            <a:r>
              <a:rPr>
                <a:latin typeface="Times New Roman" panose="02020603050405020304"/>
                <a:ea typeface="SimSun" panose="02010600030101010101" pitchFamily="2" charset="-122"/>
              </a:rPr>
              <a:t>[7] Cichonski, P., Millar, T., Grance, T., &amp; Scarfone, K. (2012). Computer Security Incident Handling Guide. NIST Special Publication 800-61, 1–147.</a:t>
            </a:r>
            <a:endParaRPr>
              <a:latin typeface="Times New Roman" panose="02020603050405020304"/>
              <a:ea typeface="SimSun" panose="02010600030101010101" pitchFamily="2" charset="-122"/>
            </a:endParaRPr>
          </a:p>
          <a:p>
            <a:pPr marL="0" indent="0" algn="just" defTabSz="266700">
              <a:spcBef>
                <a:spcPct val="0"/>
              </a:spcBef>
              <a:spcAft>
                <a:spcPct val="0"/>
              </a:spcAft>
            </a:pPr>
            <a:r>
              <a:rPr>
                <a:latin typeface="Times New Roman" panose="02020603050405020304"/>
                <a:ea typeface="SimSun" panose="02010600030101010101" pitchFamily="2" charset="-122"/>
              </a:rPr>
              <a:t>[8] National Institute of Standards and Technology. (2023). Artificial Intelligence Risk Management Framework (AI RMF 1.0). https://nvlpubs.nist.gov/nistpubs/ai/nist.ai.100-1.pdf</a:t>
            </a:r>
            <a:endParaRPr>
              <a:latin typeface="Times New Roman" panose="02020603050405020304"/>
              <a:ea typeface="SimSun"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3985" y="1159510"/>
            <a:ext cx="8319770" cy="5024755"/>
          </a:xfrm>
          <a:prstGeom prst="rect">
            <a:avLst/>
          </a:prstGeom>
        </p:spPr>
        <p:txBody>
          <a:bodyPr>
            <a:noAutofit/>
          </a:bodyPr>
          <a:p>
            <a:pPr marL="0" indent="0" algn="just" defTabSz="266700">
              <a:spcBef>
                <a:spcPct val="0"/>
              </a:spcBef>
              <a:spcAft>
                <a:spcPct val="0"/>
              </a:spcAft>
            </a:pPr>
            <a:r>
              <a:rPr>
                <a:latin typeface="Times New Roman" panose="02020603050405020304"/>
                <a:ea typeface="SimSun" panose="02010600030101010101" pitchFamily="2" charset="-122"/>
              </a:rPr>
              <a:t>[9] Alagic, G., Bros, M., Ciadoux, P., Cooper, D., Dang, Q., Dang, T., &amp; Waller, N. (2025). Status Report on the Fourth Round of the NIST Post-Quantum Cryptography Standardization Process. US Department of Commerce, National Institute of Standards and Technology.</a:t>
            </a:r>
            <a:endParaRPr>
              <a:latin typeface="Times New Roman" panose="02020603050405020304"/>
              <a:ea typeface="SimSun" panose="02010600030101010101" pitchFamily="2" charset="-122"/>
            </a:endParaRPr>
          </a:p>
          <a:p>
            <a:pPr marL="0" indent="0" algn="just" defTabSz="266700">
              <a:spcBef>
                <a:spcPct val="0"/>
              </a:spcBef>
              <a:spcAft>
                <a:spcPct val="0"/>
              </a:spcAft>
            </a:pPr>
            <a:r>
              <a:rPr>
                <a:latin typeface="Times New Roman" panose="02020603050405020304"/>
                <a:ea typeface="SimSun" panose="02010600030101010101" pitchFamily="2" charset="-122"/>
              </a:rPr>
              <a:t>[10] Ciekanowski, Z., Gruchelski, M., Nowicka, J., Zurawski, S., &amp; Pauliuchuk, Y. (2023). Cyberspace as a Source of New Threats to the Security of the European Union.</a:t>
            </a:r>
            <a:endParaRPr>
              <a:latin typeface="Times New Roman" panose="02020603050405020304"/>
              <a:ea typeface="SimSun" panose="02010600030101010101" pitchFamily="2" charset="-122"/>
            </a:endParaRPr>
          </a:p>
          <a:p>
            <a:pPr marL="0" indent="0" algn="just" defTabSz="266700">
              <a:spcBef>
                <a:spcPct val="0"/>
              </a:spcBef>
              <a:spcAft>
                <a:spcPct val="0"/>
              </a:spcAft>
            </a:pPr>
            <a:r>
              <a:rPr>
                <a:latin typeface="Times New Roman" panose="02020603050405020304"/>
                <a:ea typeface="SimSun" panose="02010600030101010101" pitchFamily="2" charset="-122"/>
              </a:rPr>
              <a:t>[11] PricewaterhouseCoopers. (2024). Global Digital Trust Insights 2024: A C-Suite United on Cyber-Ready Futures. PwC.</a:t>
            </a:r>
            <a:endParaRPr>
              <a:latin typeface="Times New Roman" panose="02020603050405020304"/>
              <a:ea typeface="SimSun" panose="02010600030101010101" pitchFamily="2" charset="-122"/>
            </a:endParaRPr>
          </a:p>
          <a:p>
            <a:pPr marL="0" indent="0" algn="just" defTabSz="266700">
              <a:spcBef>
                <a:spcPct val="0"/>
              </a:spcBef>
              <a:spcAft>
                <a:spcPct val="0"/>
              </a:spcAft>
            </a:pPr>
            <a:r>
              <a:rPr>
                <a:latin typeface="Times New Roman" panose="02020603050405020304"/>
                <a:ea typeface="SimSun" panose="02010600030101010101" pitchFamily="2" charset="-122"/>
              </a:rPr>
              <a:t>[12] Hassan, O. A., &amp; Khadaroo, I. (2026). A Critical Analysis of Microsoft's Rhetoric and Reality of Sustainability Engagement. Business Strategy and the Environment.</a:t>
            </a:r>
            <a:endParaRPr>
              <a:latin typeface="Times New Roman" panose="02020603050405020304"/>
              <a:ea typeface="SimSun" panose="02010600030101010101" pitchFamily="2" charset="-122"/>
            </a:endParaRPr>
          </a:p>
          <a:p>
            <a:pPr marL="0" indent="0" algn="just" defTabSz="266700">
              <a:spcBef>
                <a:spcPct val="0"/>
              </a:spcBef>
              <a:spcAft>
                <a:spcPct val="0"/>
              </a:spcAft>
            </a:pPr>
            <a:r>
              <a:rPr>
                <a:latin typeface="Times New Roman" panose="02020603050405020304"/>
                <a:ea typeface="SimSun" panose="02010600030101010101" pitchFamily="2" charset="-122"/>
              </a:rPr>
              <a:t>[13] Manoharan, A. (2024). Understanding the threat landscape: A comprehensive analysis of cyber-security risks in 2024. International Research Journal of Modernization in Engineering Technology and Science, 6(3), 5706–5713.</a:t>
            </a:r>
            <a:endParaRPr>
              <a:latin typeface="Times New Roman" panose="02020603050405020304"/>
              <a:ea typeface="SimSun" panose="02010600030101010101" pitchFamily="2" charset="-122"/>
            </a:endParaRPr>
          </a:p>
          <a:p>
            <a:pPr marL="0" indent="0" algn="just" defTabSz="266700">
              <a:spcBef>
                <a:spcPct val="0"/>
              </a:spcBef>
              <a:spcAft>
                <a:spcPct val="0"/>
              </a:spcAft>
            </a:pPr>
            <a:r>
              <a:rPr>
                <a:latin typeface="Times New Roman" panose="02020603050405020304"/>
                <a:ea typeface="SimSun" panose="02010600030101010101" pitchFamily="2" charset="-122"/>
              </a:rPr>
              <a:t>[14] Lee, H., Yoon, S., Lee, Y., &amp; Kang, J. (2026). Enhancing RMF and ATT&amp;CK Mapping Accuracy through Sentence-BERT and Mitigation Parameters Integration.</a:t>
            </a:r>
            <a:endParaRPr>
              <a:latin typeface="Times New Roman" panose="02020603050405020304"/>
              <a:ea typeface="SimSun" panose="02010600030101010101" pitchFamily="2" charset="-122"/>
            </a:endParaRPr>
          </a:p>
          <a:p>
            <a:pPr marL="0" indent="0" algn="just" defTabSz="266700">
              <a:spcBef>
                <a:spcPct val="0"/>
              </a:spcBef>
              <a:spcAft>
                <a:spcPct val="0"/>
              </a:spcAft>
            </a:pPr>
            <a:r>
              <a:rPr>
                <a:latin typeface="Times New Roman" panose="02020603050405020304"/>
                <a:ea typeface="SimSun" panose="02010600030101010101" pitchFamily="2" charset="-122"/>
              </a:rPr>
              <a:t>[15] Rossi, M. C. (2023). Enhancing Cyber Assets Visibility for Effective Attack Surface Management.</a:t>
            </a:r>
            <a:endParaRPr>
              <a:latin typeface="Times New Roman" panose="02020603050405020304"/>
              <a:ea typeface="SimSun" panose="02010600030101010101" pitchFamily="2" charset="-122"/>
            </a:endParaRPr>
          </a:p>
          <a:p>
            <a:pPr marL="0" indent="0" algn="just" defTabSz="266700">
              <a:spcBef>
                <a:spcPct val="0"/>
              </a:spcBef>
              <a:spcAft>
                <a:spcPct val="0"/>
              </a:spcAft>
            </a:pPr>
            <a:r>
              <a:rPr>
                <a:latin typeface="Times New Roman" panose="02020603050405020304"/>
                <a:ea typeface="SimSun" panose="02010600030101010101" pitchFamily="2" charset="-122"/>
              </a:rPr>
              <a:t>[16] Cichonski, P., Millar, T., Grance, T., &amp; Scarfone, K. (2012). Computer Security Incident Handling Guide. NIST Special Publication 800-61, 1–147.</a:t>
            </a:r>
            <a:endParaRPr>
              <a:latin typeface="Times New Roman" panose="02020603050405020304"/>
              <a:ea typeface="SimSun" panose="02010600030101010101" pitchFamily="2" charset="-122"/>
            </a:endParaRPr>
          </a:p>
          <a:p>
            <a:pPr marL="0" indent="0" algn="just" defTabSz="266700">
              <a:spcBef>
                <a:spcPct val="0"/>
              </a:spcBef>
              <a:spcAft>
                <a:spcPct val="0"/>
              </a:spcAft>
            </a:pPr>
            <a:endParaRPr>
              <a:latin typeface="Times New Roman" panose="02020603050405020304"/>
              <a:ea typeface="SimSun" panose="02010600030101010101" pitchFamily="2" charset="-122"/>
            </a:endParaRPr>
          </a:p>
        </p:txBody>
      </p:sp>
      <p:sp>
        <p:nvSpPr>
          <p:cNvPr id="3" name="Text Box 2"/>
          <p:cNvSpPr txBox="1"/>
          <p:nvPr/>
        </p:nvSpPr>
        <p:spPr>
          <a:xfrm>
            <a:off x="334645" y="132080"/>
            <a:ext cx="6184900" cy="725805"/>
          </a:xfrm>
          <a:prstGeom prst="rect">
            <a:avLst/>
          </a:prstGeom>
          <a:noFill/>
        </p:spPr>
        <p:txBody>
          <a:bodyPr wrap="square" rtlCol="0">
            <a:noAutofit/>
          </a:bodyPr>
          <a:p>
            <a:pPr algn="ctr">
              <a:lnSpc>
                <a:spcPct val="100000"/>
              </a:lnSpc>
            </a:pPr>
            <a:r>
              <a:rPr lang="en-GB" sz="3200" dirty="0">
                <a:solidFill>
                  <a:schemeClr val="tx1"/>
                </a:solidFill>
                <a:latin typeface="Times New Roman" panose="02020603050405020304" pitchFamily="18" charset="0"/>
                <a:cs typeface="Times New Roman" panose="02020603050405020304" pitchFamily="18" charset="0"/>
                <a:sym typeface="+mn-ea"/>
              </a:rPr>
              <a:t>References</a:t>
            </a:r>
            <a:endParaRPr lang="en-GB" sz="3200" dirty="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73685" y="1307465"/>
            <a:ext cx="7881620" cy="4023360"/>
          </a:xfrm>
          <a:prstGeom prst="rect">
            <a:avLst/>
          </a:prstGeom>
          <a:noFill/>
        </p:spPr>
        <p:txBody>
          <a:bodyPr wrap="square" rtlCol="0" anchor="t">
            <a:noAutofit/>
          </a:bodyPr>
          <a:p>
            <a:pPr marL="0" indent="0" algn="just" defTabSz="266700">
              <a:spcBef>
                <a:spcPct val="0"/>
              </a:spcBef>
              <a:spcAft>
                <a:spcPct val="0"/>
              </a:spcAft>
            </a:pPr>
            <a:r>
              <a:rPr>
                <a:latin typeface="Times New Roman" panose="02020603050405020304"/>
                <a:ea typeface="SimSun" panose="02010600030101010101" pitchFamily="2" charset="-122"/>
                <a:sym typeface="+mn-ea"/>
              </a:rPr>
              <a:t>[17] Perlroth, N. (2021). This Is How They Tell Me the World Ends: The Cyberweapons Arms Race. Bloomsbury Publishing USA.</a:t>
            </a:r>
            <a:endParaRPr>
              <a:latin typeface="Times New Roman" panose="02020603050405020304"/>
              <a:ea typeface="SimSun" panose="02010600030101010101" pitchFamily="2" charset="-122"/>
            </a:endParaRPr>
          </a:p>
          <a:p>
            <a:pPr marL="0" indent="0" algn="just" defTabSz="266700">
              <a:spcBef>
                <a:spcPct val="0"/>
              </a:spcBef>
              <a:spcAft>
                <a:spcPct val="0"/>
              </a:spcAft>
            </a:pPr>
            <a:r>
              <a:rPr>
                <a:latin typeface="Times New Roman" panose="02020603050405020304"/>
                <a:ea typeface="SimSun" panose="02010600030101010101" pitchFamily="2" charset="-122"/>
                <a:sym typeface="+mn-ea"/>
              </a:rPr>
              <a:t>[18] Staves, A. J. (2023). Operational Technology Preparedness: A Risk-Based Safety Approach to Scoping Security Tests for Cyber Incident Response and Recovery. Lancaster University (United Kingdom).</a:t>
            </a:r>
            <a:endParaRPr>
              <a:latin typeface="Times New Roman" panose="02020603050405020304"/>
              <a:ea typeface="SimSun" panose="02010600030101010101" pitchFamily="2" charset="-122"/>
            </a:endParaRPr>
          </a:p>
          <a:p>
            <a:pPr marL="0" indent="0" algn="just" defTabSz="266700">
              <a:spcBef>
                <a:spcPct val="0"/>
              </a:spcBef>
              <a:spcAft>
                <a:spcPct val="0"/>
              </a:spcAft>
            </a:pPr>
            <a:r>
              <a:rPr>
                <a:latin typeface="Times New Roman" panose="02020603050405020304"/>
                <a:ea typeface="SimSun" panose="02010600030101010101" pitchFamily="2" charset="-122"/>
                <a:sym typeface="+mn-ea"/>
              </a:rPr>
              <a:t>[19] Poetiray, I. F. Z., &amp; Salman, M. (2023). Information security incident management using ISO 27035 standard. Gema Wiralodra, 14(3), 168–178.</a:t>
            </a:r>
            <a:endParaRPr>
              <a:latin typeface="Times New Roman" panose="02020603050405020304"/>
              <a:ea typeface="SimSun" panose="02010600030101010101" pitchFamily="2" charset="-122"/>
            </a:endParaRPr>
          </a:p>
          <a:p>
            <a:pPr marL="0" indent="0" algn="just" defTabSz="266700">
              <a:spcBef>
                <a:spcPct val="0"/>
              </a:spcBef>
              <a:spcAft>
                <a:spcPct val="0"/>
              </a:spcAft>
            </a:pPr>
            <a:r>
              <a:rPr>
                <a:latin typeface="Times New Roman" panose="02020603050405020304"/>
                <a:ea typeface="SimSun" panose="02010600030101010101" pitchFamily="2" charset="-122"/>
                <a:sym typeface="+mn-ea"/>
              </a:rPr>
              <a:t>[20] Lim, I. C. Cybersecurity in an Age of Complexity: Outlook Since 2022 and What to Do Nex</a:t>
            </a:r>
            <a:r>
              <a:rPr lang="en-US">
                <a:latin typeface="Times New Roman" panose="02020603050405020304"/>
                <a:ea typeface="SimSun" panose="02010600030101010101" pitchFamily="2" charset="-122"/>
                <a:sym typeface="+mn-ea"/>
              </a:rPr>
              <a:t>t</a:t>
            </a:r>
            <a:endParaRPr lang="en-US">
              <a:latin typeface="Times New Roman" panose="02020603050405020304"/>
              <a:ea typeface="SimSun" panose="02010600030101010101" pitchFamily="2" charset="-122"/>
              <a:sym typeface="+mn-ea"/>
            </a:endParaRPr>
          </a:p>
        </p:txBody>
      </p:sp>
      <p:sp>
        <p:nvSpPr>
          <p:cNvPr id="3" name="Text Box 2"/>
          <p:cNvSpPr txBox="1"/>
          <p:nvPr/>
        </p:nvSpPr>
        <p:spPr>
          <a:xfrm>
            <a:off x="334645" y="132080"/>
            <a:ext cx="6158230" cy="725805"/>
          </a:xfrm>
          <a:prstGeom prst="rect">
            <a:avLst/>
          </a:prstGeom>
          <a:noFill/>
        </p:spPr>
        <p:txBody>
          <a:bodyPr wrap="square" rtlCol="0">
            <a:noAutofit/>
          </a:bodyPr>
          <a:p>
            <a:pPr algn="ctr">
              <a:lnSpc>
                <a:spcPct val="100000"/>
              </a:lnSpc>
            </a:pPr>
            <a:r>
              <a:rPr lang="en-GB" sz="3200" dirty="0">
                <a:solidFill>
                  <a:schemeClr val="tx1"/>
                </a:solidFill>
                <a:latin typeface="Times New Roman" panose="02020603050405020304" pitchFamily="18" charset="0"/>
                <a:cs typeface="Times New Roman" panose="02020603050405020304" pitchFamily="18" charset="0"/>
                <a:sym typeface="+mn-ea"/>
              </a:rPr>
              <a:t>References</a:t>
            </a:r>
            <a:endParaRPr lang="en-GB" sz="3200" dirty="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GB"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datastoreItem>
</file>

<file path=customXml/itemProps2.xml><?xml version="1.0" encoding="utf-8"?>
<ds:datastoreItem xmlns:ds="http://schemas.openxmlformats.org/officeDocument/2006/customXml" ds:itemID="{737ED6F0-5E4C-4CD0-9B68-9C53F925A6F7}">
  <ds:schemaRefs/>
</ds:datastoreItem>
</file>

<file path=customXml/itemProps3.xml><?xml version="1.0" encoding="utf-8"?>
<ds:datastoreItem xmlns:ds="http://schemas.openxmlformats.org/officeDocument/2006/customXml" ds:itemID="{4A62A602-78C1-468C-BB25-57CD481DB741}">
  <ds:schemaRefs/>
</ds:datastoreItem>
</file>

<file path=docProps/app.xml><?xml version="1.0" encoding="utf-8"?>
<Properties xmlns="http://schemas.openxmlformats.org/officeDocument/2006/extended-properties" xmlns:vt="http://schemas.openxmlformats.org/officeDocument/2006/docPropsVTypes">
  <TotalTime>0</TotalTime>
  <Words>8172</Words>
  <Application>WPS Presentation</Application>
  <PresentationFormat>On-screen Show (4:3)</PresentationFormat>
  <Paragraphs>166</Paragraphs>
  <Slides>11</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11</vt:i4>
      </vt:variant>
    </vt:vector>
  </HeadingPairs>
  <TitlesOfParts>
    <vt:vector size="26" baseType="lpstr">
      <vt:lpstr>Arial</vt:lpstr>
      <vt:lpstr>SimSun</vt:lpstr>
      <vt:lpstr>Wingdings</vt:lpstr>
      <vt:lpstr>Calibri</vt:lpstr>
      <vt:lpstr>MS PGothic</vt:lpstr>
      <vt:lpstr>Arial</vt:lpstr>
      <vt:lpstr>Times New Roman</vt:lpstr>
      <vt:lpstr>Times New Roman</vt:lpstr>
      <vt:lpstr>Calibri</vt:lpstr>
      <vt:lpstr>Microsoft YaHei</vt:lpstr>
      <vt:lpstr>Arial Unicode MS</vt:lpstr>
      <vt:lpstr>DejaVu Sans</vt:lpstr>
      <vt:lpstr>Calibri</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CCC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Yashasvi Sharma</cp:lastModifiedBy>
  <cp:revision>2300</cp:revision>
  <dcterms:created xsi:type="dcterms:W3CDTF">2010-04-09T07:36:00Z</dcterms:created>
  <dcterms:modified xsi:type="dcterms:W3CDTF">2026-05-13T18:22:57Z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y fmtid="{D5CDD505-2E9C-101B-9397-08002B2CF9AE}" pid="14" name="KSOProductBuildVer">
    <vt:lpwstr>1033-12.1.0.26372</vt:lpwstr>
  </property>
  <property fmtid="{D5CDD505-2E9C-101B-9397-08002B2CF9AE}" pid="15" name="ICV">
    <vt:lpwstr>D704BB7C47AE43FE9339C81D7D9505C4_12</vt:lpwstr>
  </property>
</Properties>
</file>